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72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502920"/>
            <a:ext cx="1417320" cy="0"/>
          </a:xfrm>
          <a:prstGeom prst="line">
            <a:avLst/>
          </a:prstGeom>
          <a:noFill/>
          <a:ln w="12700">
            <a:solidFill>
              <a:srgbClr val="C99A2E">
                <a:alpha val="5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6263640"/>
            <a:ext cx="960120" cy="0"/>
          </a:xfrm>
          <a:prstGeom prst="line">
            <a:avLst/>
          </a:prstGeom>
          <a:noFill/>
          <a:ln w="12700">
            <a:solidFill>
              <a:srgbClr val="E3C06A">
                <a:alpha val="4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stayora_luxury_hospitalit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20040"/>
            <a:ext cx="44805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41848" y="4681728"/>
            <a:ext cx="91440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2359152" y="507492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agentic hotel booking assistant that searches, explains, verifies, and reserves in one trusted conversation.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530352"/>
            <a:ext cx="1508760" cy="0"/>
          </a:xfrm>
          <a:prstGeom prst="line">
            <a:avLst/>
          </a:prstGeom>
          <a:noFill/>
          <a:ln w="12700">
            <a:solidFill>
              <a:srgbClr val="C99A2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6263640"/>
            <a:ext cx="1051560" cy="0"/>
          </a:xfrm>
          <a:prstGeom prst="line">
            <a:avLst/>
          </a:prstGeom>
          <a:noFill/>
          <a:ln w="12700">
            <a:solidFill>
              <a:srgbClr val="E3C06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stayora_luxury_hospitalit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411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Stayora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6080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DE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Stayora turns hotel booking into a premium concierge conversation.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9808" y="2066544"/>
            <a:ext cx="96012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49808" y="2377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search to confirmed reservation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68096" y="2944368"/>
            <a:ext cx="46634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7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Stayora is an AI-powered booking assistant for travelers who want confidence, speed, and personalization — not endless tabs and unclear policies.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37960" y="2148840"/>
            <a:ext cx="3977640" cy="2423160"/>
          </a:xfrm>
          <a:prstGeom prst="roundRect">
            <a:avLst>
              <a:gd name="adj" fmla="val 3019"/>
            </a:avLst>
          </a:prstGeom>
          <a:solidFill>
            <a:srgbClr val="102A4A"/>
          </a:solidFill>
          <a:ln>
            <a:solidFill>
              <a:srgbClr val="C99A2E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Understands preferences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Compares live inventory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Explains tradeoffs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Confirms before booking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870448" y="2331720"/>
            <a:ext cx="0" cy="2788920"/>
          </a:xfrm>
          <a:prstGeom prst="line">
            <a:avLst/>
          </a:prstGeom>
          <a:noFill/>
          <a:ln w="12700">
            <a:solidFill>
              <a:srgbClr val="C99A2E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4980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9FB1C7"/>
                </a:solidFill>
              </a:rPr>
              <a:t>Stayora — premium AI hotel concierge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502920"/>
            <a:ext cx="1417320" cy="0"/>
          </a:xfrm>
          <a:prstGeom prst="line">
            <a:avLst/>
          </a:prstGeom>
          <a:noFill/>
          <a:ln w="12700">
            <a:solidFill>
              <a:srgbClr val="C99A2E">
                <a:alpha val="5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6263640"/>
            <a:ext cx="960120" cy="0"/>
          </a:xfrm>
          <a:prstGeom prst="line">
            <a:avLst/>
          </a:prstGeom>
          <a:noFill/>
          <a:ln w="12700">
            <a:solidFill>
              <a:srgbClr val="E3C06A">
                <a:alpha val="4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stayora_luxury_hospitalit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411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Stayora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6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6080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2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 booking is high-intent, high-friction, and still too manual.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9808" y="2066544"/>
            <a:ext cx="96012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>
            <a:solidFill>
              <a:srgbClr val="E4DDCE"/>
            </a:solidFill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overload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Travelers compare dozens of tabs, filters, reviews, and policy pages.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242316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>
            <a:solidFill>
              <a:srgbClr val="E4DDCE"/>
            </a:solidFill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gap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Prices, availability, taxes, and cancellation rules often change before checkout.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685032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>
            <a:solidFill>
              <a:srgbClr val="E4DDCE"/>
            </a:solidFill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ranking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OTAs optimize for inventory and ads, not truly personal fit.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89320" y="3685032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>
            <a:solidFill>
              <a:srgbClr val="E4DDCE"/>
            </a:solidFill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friction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assistants can recommend; few can safely complete the reservation.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07008" y="562356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6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result: travelers spend more time deciding than actually enjoying the trip.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4980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992A0"/>
                </a:solidFill>
              </a:rPr>
              <a:t>AI-powered stays, personally curated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530352"/>
            <a:ext cx="1508760" cy="0"/>
          </a:xfrm>
          <a:prstGeom prst="line">
            <a:avLst/>
          </a:prstGeom>
          <a:noFill/>
          <a:ln w="12700">
            <a:solidFill>
              <a:srgbClr val="C99A2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6263640"/>
            <a:ext cx="1051560" cy="0"/>
          </a:xfrm>
          <a:prstGeom prst="line">
            <a:avLst/>
          </a:prstGeom>
          <a:noFill/>
          <a:ln w="12700">
            <a:solidFill>
              <a:srgbClr val="E3C06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stayora_luxury_hospitalit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411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Stayora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6080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DE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trusted agent that curates, verifies, and books.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9808" y="2066544"/>
            <a:ext cx="96012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493776" cy="493776"/>
          </a:xfrm>
          <a:prstGeom prst="ellipse">
            <a:avLst/>
          </a:prstGeom>
          <a:solidFill>
            <a:srgbClr val="C99A2E"/>
          </a:solidFill>
          <a:ln>
            <a:solidFill>
              <a:srgbClr val="C99A2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08760" y="2468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08760" y="2852928"/>
            <a:ext cx="1828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5E0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natural language into structured travel intent.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3154680" y="2761488"/>
            <a:ext cx="41148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657600" y="2514600"/>
            <a:ext cx="493776" cy="493776"/>
          </a:xfrm>
          <a:prstGeom prst="ellipse">
            <a:avLst/>
          </a:prstGeom>
          <a:solidFill>
            <a:srgbClr val="C99A2E"/>
          </a:solidFill>
          <a:ln>
            <a:solidFill>
              <a:srgbClr val="C99A2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297680" y="2468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297680" y="2852928"/>
            <a:ext cx="1828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5E0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live hotel inventory and availability through MCP.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5943600" y="2761488"/>
            <a:ext cx="41148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446520" y="2514600"/>
            <a:ext cx="493776" cy="493776"/>
          </a:xfrm>
          <a:prstGeom prst="ellipse">
            <a:avLst/>
          </a:prstGeom>
          <a:solidFill>
            <a:srgbClr val="C99A2E"/>
          </a:solidFill>
          <a:ln>
            <a:solidFill>
              <a:srgbClr val="C99A2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86600" y="2468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086600" y="2852928"/>
            <a:ext cx="1828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5E0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options using preferences, RAG knowledge, and policies.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8732520" y="2761488"/>
            <a:ext cx="41148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9235440" y="2514600"/>
            <a:ext cx="493776" cy="493776"/>
          </a:xfrm>
          <a:prstGeom prst="ellipse">
            <a:avLst/>
          </a:prstGeom>
          <a:solidFill>
            <a:srgbClr val="C99A2E"/>
          </a:solidFill>
          <a:ln>
            <a:solidFill>
              <a:srgbClr val="C99A2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875520" y="2468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9875520" y="2852928"/>
            <a:ext cx="1828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5E0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Re-check price, ask for confirmation, then create booking.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1325880" y="495604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Differentiator: Stayora does not stop at “here are options.” It handles the full transaction flow with safety checks.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4980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9FB1C7"/>
                </a:solidFill>
              </a:rPr>
              <a:t>LLM + Agents + RAG + MCP + RouteStack reservations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502920"/>
            <a:ext cx="1417320" cy="0"/>
          </a:xfrm>
          <a:prstGeom prst="line">
            <a:avLst/>
          </a:prstGeom>
          <a:noFill/>
          <a:ln w="12700">
            <a:solidFill>
              <a:srgbClr val="C99A2E">
                <a:alpha val="5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6263640"/>
            <a:ext cx="960120" cy="0"/>
          </a:xfrm>
          <a:prstGeom prst="line">
            <a:avLst/>
          </a:prstGeom>
          <a:noFill/>
          <a:ln w="12700">
            <a:solidFill>
              <a:srgbClr val="E3C06A">
                <a:alpha val="4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stayora_luxury_hospitalit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411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Stayora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6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6080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2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travel demand meets rising adoption of AI-assisted discovery.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9808" y="2066544"/>
            <a:ext cx="96012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60120" y="2331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C99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$492B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005840" y="29352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2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projected worldwide hotel market revenue in 2026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4663440" y="2331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C99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$707B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709160" y="29352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2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online travel booking market projected for 2025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8321040" y="2331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C99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$416B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366760" y="29352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2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luxury hotel market forecast by 2034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1143000" y="4069080"/>
            <a:ext cx="9875520" cy="0"/>
          </a:xfrm>
          <a:prstGeom prst="line">
            <a:avLst/>
          </a:prstGeom>
          <a:noFill/>
          <a:ln w="12700">
            <a:solidFill>
              <a:srgbClr val="DED6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960120" y="4572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6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Beachhead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3337560" y="4498848"/>
            <a:ext cx="7315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leisure and business travelers who value curated recommendations, flexible cancellation, and a concierge-like booking experience.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9808" y="636422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8D8A82"/>
                </a:solidFill>
              </a:rPr>
              <a:t>Sources: Statista Hotels Market Forecast 2026; Custom Market Insights Online Travel Booking 2025; Fortune Business Insights Luxury Hotel Market 2026–2034.</a:t>
            </a:r>
            <a:endParaRPr lang="en-US" sz="6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530352"/>
            <a:ext cx="1508760" cy="0"/>
          </a:xfrm>
          <a:prstGeom prst="line">
            <a:avLst/>
          </a:prstGeom>
          <a:noFill/>
          <a:ln w="12700">
            <a:solidFill>
              <a:srgbClr val="C99A2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6263640"/>
            <a:ext cx="1051560" cy="0"/>
          </a:xfrm>
          <a:prstGeom prst="line">
            <a:avLst/>
          </a:prstGeom>
          <a:noFill/>
          <a:ln w="12700">
            <a:solidFill>
              <a:srgbClr val="E3C06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stayora_luxury_hospitalit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411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Stayora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6080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DE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modern full-stack AI system built for dynamic transactions.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9808" y="2066544"/>
            <a:ext cx="96012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005840" y="2057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3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670048" y="2057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TailwindCSS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32120" y="203911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CED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 booking UI, hotel comparisons, confirmation flow</a:t>
            </a:r>
            <a:endParaRPr lang="en-US" sz="1370" dirty="0"/>
          </a:p>
        </p:txBody>
      </p:sp>
      <p:sp>
        <p:nvSpPr>
          <p:cNvPr id="12" name="Shape 9"/>
          <p:cNvSpPr/>
          <p:nvPr/>
        </p:nvSpPr>
        <p:spPr>
          <a:xfrm>
            <a:off x="1005840" y="2587752"/>
            <a:ext cx="9966960" cy="0"/>
          </a:xfrm>
          <a:prstGeom prst="line">
            <a:avLst/>
          </a:prstGeom>
          <a:noFill/>
          <a:ln w="12700">
            <a:solidFill>
              <a:srgbClr val="3751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005840" y="30632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3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670048" y="3063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+ PostgreSQL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32120" y="3044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CED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sessions, audit trail, reservations, saved preferences</a:t>
            </a:r>
            <a:endParaRPr lang="en-US" sz="1370" dirty="0"/>
          </a:p>
        </p:txBody>
      </p:sp>
      <p:sp>
        <p:nvSpPr>
          <p:cNvPr id="16" name="Shape 13"/>
          <p:cNvSpPr/>
          <p:nvPr/>
        </p:nvSpPr>
        <p:spPr>
          <a:xfrm>
            <a:off x="1005840" y="3593592"/>
            <a:ext cx="9966960" cy="0"/>
          </a:xfrm>
          <a:prstGeom prst="line">
            <a:avLst/>
          </a:prstGeom>
          <a:noFill/>
          <a:ln w="12700">
            <a:solidFill>
              <a:srgbClr val="3751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1005840" y="4069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3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Layer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2670048" y="4069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+ RAG + Agents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532120" y="405079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CED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parsing, personalized ranking, policy reasoning, response generation</a:t>
            </a:r>
            <a:endParaRPr lang="en-US" sz="1370" dirty="0"/>
          </a:p>
        </p:txBody>
      </p:sp>
      <p:sp>
        <p:nvSpPr>
          <p:cNvPr id="20" name="Shape 17"/>
          <p:cNvSpPr/>
          <p:nvPr/>
        </p:nvSpPr>
        <p:spPr>
          <a:xfrm>
            <a:off x="1005840" y="4599432"/>
            <a:ext cx="9966960" cy="0"/>
          </a:xfrm>
          <a:prstGeom prst="line">
            <a:avLst/>
          </a:prstGeom>
          <a:noFill/>
          <a:ln w="12700">
            <a:solidFill>
              <a:srgbClr val="3751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005840" y="50749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3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2670048" y="5074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Servers + RouteStack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32120" y="505663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CED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hotels, get live rates, verify policies, and create reservations via RouteStack</a:t>
            </a:r>
            <a:endParaRPr lang="en-US" sz="1370" dirty="0"/>
          </a:p>
        </p:txBody>
      </p:sp>
      <p:sp>
        <p:nvSpPr>
          <p:cNvPr id="24" name="Shape 21"/>
          <p:cNvSpPr/>
          <p:nvPr/>
        </p:nvSpPr>
        <p:spPr>
          <a:xfrm>
            <a:off x="1005840" y="5605272"/>
            <a:ext cx="9966960" cy="0"/>
          </a:xfrm>
          <a:prstGeom prst="line">
            <a:avLst/>
          </a:prstGeom>
          <a:noFill/>
          <a:ln w="12700">
            <a:solidFill>
              <a:srgbClr val="3751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74980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9FB1C7"/>
                </a:solidFill>
              </a:rPr>
              <a:t>Designed to show practical LLM, RAG, Agents, and MCP integration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502920"/>
            <a:ext cx="1417320" cy="0"/>
          </a:xfrm>
          <a:prstGeom prst="line">
            <a:avLst/>
          </a:prstGeom>
          <a:noFill/>
          <a:ln w="12700">
            <a:solidFill>
              <a:srgbClr val="C99A2E">
                <a:alpha val="5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6263640"/>
            <a:ext cx="960120" cy="0"/>
          </a:xfrm>
          <a:prstGeom prst="line">
            <a:avLst/>
          </a:prstGeom>
          <a:noFill/>
          <a:ln w="12700">
            <a:solidFill>
              <a:srgbClr val="E3C06A">
                <a:alpha val="4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stayora_luxury_hospitalit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411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Stayora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6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6080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2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orchestration with clear boundaries between knowledge and action.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9808" y="2066544"/>
            <a:ext cx="96012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2359152" y="299923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9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472" y="299923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9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406640" y="233172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9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06640" y="397764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9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↘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168128" y="20665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9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168128" y="42245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9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9808" y="2816352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61A33"/>
          </a:solidFill>
          <a:ln>
            <a:solidFill>
              <a:srgbClr val="061A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request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154680" y="2770632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C99A2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06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06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596128" y="2615184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solidFill>
              <a:srgbClr val="C99A2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06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06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• Recommend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06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• Booking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8348472" y="1700784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DFBF6"/>
          </a:solidFill>
          <a:ln>
            <a:solidFill>
              <a:srgbClr val="D9C48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Policies, guides,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preferences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8348472" y="3913632"/>
            <a:ext cx="1691640" cy="987552"/>
          </a:xfrm>
          <a:prstGeom prst="roundRect">
            <a:avLst>
              <a:gd name="adj" fmla="val 7407"/>
            </a:avLst>
          </a:prstGeom>
          <a:solidFill>
            <a:srgbClr val="FDFBF6"/>
          </a:solidFill>
          <a:ln>
            <a:solidFill>
              <a:srgbClr val="D9C48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tool layer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10835640" y="187452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061A33"/>
          </a:solidFill>
          <a:ln>
            <a:solidFill>
              <a:srgbClr val="061A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DB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835640" y="406908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061A33"/>
          </a:solidFill>
          <a:ln>
            <a:solidFill>
              <a:srgbClr val="061A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RouteStack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992A0"/>
                </a:solidFill>
              </a:rPr>
              <a:t>AI-powered stays, personally curated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530352"/>
            <a:ext cx="1508760" cy="0"/>
          </a:xfrm>
          <a:prstGeom prst="line">
            <a:avLst/>
          </a:prstGeom>
          <a:noFill/>
          <a:ln w="12700">
            <a:solidFill>
              <a:srgbClr val="C99A2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6263640"/>
            <a:ext cx="1051560" cy="0"/>
          </a:xfrm>
          <a:prstGeom prst="line">
            <a:avLst/>
          </a:prstGeom>
          <a:noFill/>
          <a:ln w="12700">
            <a:solidFill>
              <a:srgbClr val="E3C06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stayora_luxury_hospitalit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411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Stayora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6080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DE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monetization paths across consumers, partners, and platforms.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9808" y="2066544"/>
            <a:ext cx="96012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14400" y="2331720"/>
            <a:ext cx="4343400" cy="1005840"/>
          </a:xfrm>
          <a:prstGeom prst="roundRect">
            <a:avLst>
              <a:gd name="adj" fmla="val 7273"/>
            </a:avLst>
          </a:prstGeom>
          <a:solidFill>
            <a:srgbClr val="102A4A"/>
          </a:solidFill>
          <a:ln>
            <a:solidFill>
              <a:srgbClr val="C99A2E">
                <a:alpha val="85000"/>
              </a:srgbClr>
            </a:solidFill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commission</a:t>
            </a:r>
            <a:endParaRPr lang="en-US" sz="1560" dirty="0"/>
          </a:p>
          <a:p>
            <a:pPr marL="0" indent="0" algn="l">
              <a:buNone/>
            </a:pPr>
            <a:r>
              <a:rPr lang="en-US" sz="15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 affiliate or transaction revenue on completed reservations.</a:t>
            </a:r>
            <a:endParaRPr lang="en-US" sz="1560" dirty="0"/>
          </a:p>
        </p:txBody>
      </p:sp>
      <p:sp>
        <p:nvSpPr>
          <p:cNvPr id="10" name="Text 7"/>
          <p:cNvSpPr/>
          <p:nvPr/>
        </p:nvSpPr>
        <p:spPr>
          <a:xfrm>
            <a:off x="6172200" y="2331720"/>
            <a:ext cx="4343400" cy="1005840"/>
          </a:xfrm>
          <a:prstGeom prst="roundRect">
            <a:avLst>
              <a:gd name="adj" fmla="val 7273"/>
            </a:avLst>
          </a:prstGeom>
          <a:solidFill>
            <a:srgbClr val="102A4A"/>
          </a:solidFill>
          <a:ln>
            <a:solidFill>
              <a:srgbClr val="C99A2E">
                <a:alpha val="85000"/>
              </a:srgbClr>
            </a:solidFill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concierge</a:t>
            </a:r>
            <a:endParaRPr lang="en-US" sz="1560" dirty="0"/>
          </a:p>
          <a:p>
            <a:pPr marL="0" indent="0" algn="l">
              <a:buNone/>
            </a:pPr>
            <a:r>
              <a:rPr lang="en-US" sz="15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subscription for frequent travelers and business users.</a:t>
            </a:r>
            <a:endParaRPr lang="en-US" sz="1560" dirty="0"/>
          </a:p>
        </p:txBody>
      </p:sp>
      <p:sp>
        <p:nvSpPr>
          <p:cNvPr id="11" name="Text 8"/>
          <p:cNvSpPr/>
          <p:nvPr/>
        </p:nvSpPr>
        <p:spPr>
          <a:xfrm>
            <a:off x="914400" y="3749040"/>
            <a:ext cx="4343400" cy="1005840"/>
          </a:xfrm>
          <a:prstGeom prst="roundRect">
            <a:avLst>
              <a:gd name="adj" fmla="val 7273"/>
            </a:avLst>
          </a:prstGeom>
          <a:solidFill>
            <a:srgbClr val="102A4A"/>
          </a:solidFill>
          <a:ln>
            <a:solidFill>
              <a:srgbClr val="C99A2E">
                <a:alpha val="85000"/>
              </a:srgbClr>
            </a:solidFill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B2B white-label</a:t>
            </a:r>
            <a:endParaRPr lang="en-US" sz="1560" dirty="0"/>
          </a:p>
          <a:p>
            <a:pPr marL="0" indent="0" algn="l">
              <a:buNone/>
            </a:pPr>
            <a:r>
              <a:rPr lang="en-US" sz="15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Stayora as an AI booking layer for hotels, agencies, or loyalty programs.</a:t>
            </a:r>
            <a:endParaRPr lang="en-US" sz="1560" dirty="0"/>
          </a:p>
        </p:txBody>
      </p:sp>
      <p:sp>
        <p:nvSpPr>
          <p:cNvPr id="12" name="Text 9"/>
          <p:cNvSpPr/>
          <p:nvPr/>
        </p:nvSpPr>
        <p:spPr>
          <a:xfrm>
            <a:off x="6172200" y="3749040"/>
            <a:ext cx="4343400" cy="1005840"/>
          </a:xfrm>
          <a:prstGeom prst="roundRect">
            <a:avLst>
              <a:gd name="adj" fmla="val 7273"/>
            </a:avLst>
          </a:prstGeom>
          <a:solidFill>
            <a:srgbClr val="102A4A"/>
          </a:solidFill>
          <a:ln>
            <a:solidFill>
              <a:srgbClr val="C99A2E">
                <a:alpha val="85000"/>
              </a:srgbClr>
            </a:solidFill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upsells</a:t>
            </a:r>
            <a:endParaRPr lang="en-US" sz="1560" dirty="0"/>
          </a:p>
          <a:p>
            <a:pPr marL="0" indent="0" algn="l">
              <a:buNone/>
            </a:pPr>
            <a:r>
              <a:rPr lang="en-US" sz="15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 insurance, airport transfer, activities, and room upgrades.</a:t>
            </a:r>
            <a:endParaRPr lang="en-US" sz="1560" dirty="0"/>
          </a:p>
        </p:txBody>
      </p:sp>
      <p:sp>
        <p:nvSpPr>
          <p:cNvPr id="13" name="Text 10"/>
          <p:cNvSpPr/>
          <p:nvPr/>
        </p:nvSpPr>
        <p:spPr>
          <a:xfrm>
            <a:off x="1389888" y="5696712"/>
            <a:ext cx="937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3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star metric: confirmed bookings per active traveler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4980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9FB1C7"/>
                </a:solidFill>
              </a:rPr>
              <a:t>Revenue scales with successful, trusted booking outcomes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502920"/>
            <a:ext cx="1417320" cy="0"/>
          </a:xfrm>
          <a:prstGeom prst="line">
            <a:avLst/>
          </a:prstGeom>
          <a:noFill/>
          <a:ln w="12700">
            <a:solidFill>
              <a:srgbClr val="C99A2E">
                <a:alpha val="5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6263640"/>
            <a:ext cx="960120" cy="0"/>
          </a:xfrm>
          <a:prstGeom prst="line">
            <a:avLst/>
          </a:prstGeom>
          <a:noFill/>
          <a:ln w="12700">
            <a:solidFill>
              <a:srgbClr val="E3C06A">
                <a:alpha val="4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stayora_luxury_hospitalit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411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Stayora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6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6080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2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Stayora competes by becoming the intelligent action layer above search.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9808" y="2066544"/>
            <a:ext cx="96012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68680" y="2240280"/>
            <a:ext cx="16459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solidFill>
              <a:srgbClr val="E3DAC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Booking.com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depth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3108960" y="2240280"/>
            <a:ext cx="16459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solidFill>
              <a:srgbClr val="E3DAC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Expedia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OTA bundle scale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5349240" y="2240280"/>
            <a:ext cx="16459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solidFill>
              <a:srgbClr val="E3DAC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Travel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entry point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7589520" y="2240280"/>
            <a:ext cx="16459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solidFill>
              <a:srgbClr val="E3DAC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Hopper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prediction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9829800" y="2240280"/>
            <a:ext cx="1645920" cy="1078992"/>
          </a:xfrm>
          <a:prstGeom prst="roundRect">
            <a:avLst>
              <a:gd name="adj" fmla="val 6780"/>
            </a:avLst>
          </a:prstGeom>
          <a:solidFill>
            <a:srgbClr val="061A33"/>
          </a:solidFill>
          <a:ln>
            <a:solidFill>
              <a:srgbClr val="C99A2E"/>
            </a:solidFill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Stayora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concierge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868680" y="395935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6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2788920" y="3886200"/>
            <a:ext cx="83210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OTAs are optimized around search results and booking funnels. Stayora is built around traveler intent, explainable recommendations, safety checks, and dynamic reservation execution.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9808" y="636422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8D8A82"/>
                </a:solidFill>
              </a:rPr>
              <a:t>Competitive signals: Booking Holdings reported $186.1B gross travel bookings and 1.2B room nights in 2025; Booking and Expedia together hold ~42% of global OTA gross bookings according to Skift Research.</a:t>
            </a:r>
            <a:endParaRPr lang="en-US" sz="6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530352"/>
            <a:ext cx="1508760" cy="0"/>
          </a:xfrm>
          <a:prstGeom prst="line">
            <a:avLst/>
          </a:prstGeom>
          <a:noFill/>
          <a:ln w="12700">
            <a:solidFill>
              <a:srgbClr val="C99A2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6263640"/>
            <a:ext cx="1051560" cy="0"/>
          </a:xfrm>
          <a:prstGeom prst="line">
            <a:avLst/>
          </a:prstGeom>
          <a:noFill/>
          <a:ln w="12700">
            <a:solidFill>
              <a:srgbClr val="E3C06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stayora_luxury_hospitalit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411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Stayora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6080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r>
              <a:t>A founder-led capstone combining AI engineering, product thinking, and full-stack execution.</a:t>
            </a:r>
          </a:p>
        </p:txBody>
      </p:sp>
      <p:sp>
        <p:nvSpPr>
          <p:cNvPr id="8" name="Shape 5"/>
          <p:cNvSpPr/>
          <p:nvPr/>
        </p:nvSpPr>
        <p:spPr>
          <a:xfrm>
            <a:off x="749808" y="2066544"/>
            <a:ext cx="960120" cy="0"/>
          </a:xfrm>
          <a:prstGeom prst="line">
            <a:avLst/>
          </a:prstGeom>
          <a:noFill/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14400" y="2148839"/>
            <a:ext cx="7530860" cy="3392423"/>
          </a:xfrm>
          <a:prstGeom prst="roundRect">
            <a:avLst>
              <a:gd name="adj" fmla="val 6557"/>
            </a:avLst>
          </a:prstGeom>
          <a:solidFill>
            <a:srgbClr val="102A4A"/>
          </a:solidFill>
          <a:ln>
            <a:solidFill>
              <a:srgbClr val="2C4B6A"/>
            </a:solidFill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Mousa Ayoubi</a:t>
            </a:r>
            <a:endParaRPr lang="en-US" sz="1510" dirty="0"/>
          </a:p>
          <a:p>
            <a:r>
              <a:rPr lang="en-US" sz="15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• AI Developer • Full-Stack Developer </a:t>
            </a:r>
            <a:endParaRPr lang="en-US" sz="1510" dirty="0"/>
          </a:p>
        </p:txBody>
      </p:sp>
      <p:sp>
        <p:nvSpPr>
          <p:cNvPr id="13" name="Text 10"/>
          <p:cNvSpPr/>
          <p:nvPr/>
        </p:nvSpPr>
        <p:spPr>
          <a:xfrm>
            <a:off x="1143000" y="5852160"/>
            <a:ext cx="9921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t>Stayora is designed and built by Mousa Ayoubi as an end-to-end demonstration of production-style agentic AI systems.</a:t>
            </a:r>
          </a:p>
        </p:txBody>
      </p:sp>
      <p:sp>
        <p:nvSpPr>
          <p:cNvPr id="14" name="Text 11"/>
          <p:cNvSpPr/>
          <p:nvPr/>
        </p:nvSpPr>
        <p:spPr>
          <a:xfrm>
            <a:off x="74980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9FB1C7"/>
                </a:solidFill>
              </a:rPr>
              <a:t>Stayora — premium AI hotel concierge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732</Words>
  <Application>Microsoft Office PowerPoint</Application>
  <PresentationFormat>Widescreen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Stayora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Stayora Pitch Deck</dc:title>
  <dc:subject>Stayora Pitch Deck</dc:subject>
  <dc:creator>OpenAI</dc:creator>
  <cp:lastModifiedBy>Mousa Ayoubi</cp:lastModifiedBy>
  <cp:revision>4</cp:revision>
  <dcterms:created xsi:type="dcterms:W3CDTF">2026-08-19T10:39:56Z</dcterms:created>
  <dcterms:modified xsi:type="dcterms:W3CDTF">2026-08-19T12:21:12Z</dcterms:modified>
</cp:coreProperties>
</file>